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Big Data Analysis Akka Project</a:t>
            </a:r>
            <a:endParaRPr lang="en-US" sz="3200" dirty="0"/>
          </a:p>
        </p:txBody>
      </p:sp>
      <p:sp>
        <p:nvSpPr>
          <p:cNvPr id="3" name="Subtitle 2"/>
          <p:cNvSpPr>
            <a:spLocks noGrp="1"/>
          </p:cNvSpPr>
          <p:nvPr>
            <p:ph type="subTitle" idx="1"/>
          </p:nvPr>
        </p:nvSpPr>
        <p:spPr/>
        <p:txBody>
          <a:bodyPr/>
          <a:lstStyle/>
          <a:p>
            <a:r>
              <a:rPr lang="en-US"/>
              <a:t>by Sandra and Hiba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01700" y="175260"/>
            <a:ext cx="10515600" cy="4351338"/>
          </a:xfrm>
        </p:spPr>
        <p:txBody>
          <a:bodyPr>
            <a:noAutofit/>
          </a:bodyPr>
          <a:p>
            <a:pPr marL="0" indent="0">
              <a:buNone/>
            </a:pPr>
            <a:r>
              <a:rPr lang="en-US" altLang="en-US" sz="1800">
                <a:latin typeface="Times New Roman" panose="02020603050405020304" charset="0"/>
                <a:cs typeface="Times New Roman" panose="02020603050405020304" charset="0"/>
              </a:rPr>
              <a:t>Distributed Unary IND Discovery with Akka Typed</a:t>
            </a:r>
            <a:endParaRPr lang="en-US" altLang="en-US" sz="1800">
              <a:latin typeface="Times New Roman" panose="02020603050405020304" charset="0"/>
              <a:cs typeface="Times New Roman" panose="02020603050405020304" charset="0"/>
            </a:endParaRPr>
          </a:p>
          <a:p>
            <a:pPr marL="0" indent="0">
              <a:lnSpc>
                <a:spcPct val="80000"/>
              </a:lnSpc>
              <a:buNone/>
            </a:pP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The implemented system realizes a fully distributed pipeline for discovering unary inclusion dependencies (INDs) using Akka Typed. It executes correctly across multiple JVM processes and ActorSystems, leveraging Akka’s receptionist and clustering mechanisms to support dynamic worker participation.</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The architecture strictly separates responsibilities: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The Master performs lightweight orchestration only.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The DependencyMiner coordinates data loading and validation.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Worker nodes handle all computationally intensive tasks.</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pPr>
              <a:buFont typeface="Wingdings" panose="05000000000000000000" charset="0"/>
              <a:buChar char="v"/>
            </a:pPr>
            <a:r>
              <a:rPr lang="en-US" altLang="en-US" sz="1800">
                <a:latin typeface="Times New Roman" panose="02020603050405020304" charset="0"/>
                <a:cs typeface="Times New Roman" panose="02020603050405020304" charset="0"/>
              </a:rPr>
              <a:t>This design ensures that the master remains responsive throughout execution and avoids heartbeat failures, even under high load. The system remains stable as workers join dynamically and completes deterministically without relying on timeouts.</a:t>
            </a:r>
            <a:endParaRPr lang="en-US" altLang="en-US" sz="1800">
              <a:latin typeface="Times New Roman" panose="02020603050405020304" charset="0"/>
              <a:cs typeface="Times New Roman" panose="02020603050405020304" charset="0"/>
            </a:endParaRPr>
          </a:p>
          <a:p>
            <a:pPr>
              <a:buFont typeface="Wingdings" panose="05000000000000000000" charset="0"/>
              <a:buChar char="v"/>
            </a:pPr>
            <a:r>
              <a:rPr lang="en-US" altLang="en-US" sz="1800">
                <a:latin typeface="Times New Roman" panose="02020603050405020304" charset="0"/>
                <a:cs typeface="Times New Roman" panose="02020603050405020304" charset="0"/>
                <a:sym typeface="+mn-ea"/>
              </a:rPr>
              <a:t>Validation is implemented using a merge-based subset check on sorted, distinct column values, resulting in:</a:t>
            </a:r>
            <a:endParaRPr lang="en-US" altLang="en-US" sz="1800">
              <a:latin typeface="Times New Roman" panose="02020603050405020304" charset="0"/>
              <a:cs typeface="Times New Roman" panose="02020603050405020304" charset="0"/>
            </a:endParaRPr>
          </a:p>
          <a:p>
            <a:pPr lvl="1">
              <a:lnSpc>
                <a:spcPct val="100000"/>
              </a:lnSpc>
            </a:pPr>
            <a:r>
              <a:rPr lang="en-US" altLang="en-US" sz="1540">
                <a:latin typeface="Times New Roman" panose="02020603050405020304" charset="0"/>
                <a:cs typeface="Times New Roman" panose="02020603050405020304" charset="0"/>
                <a:sym typeface="+mn-ea"/>
              </a:rPr>
              <a:t>Linear time complexity</a:t>
            </a:r>
            <a:endParaRPr lang="en-US" altLang="en-US" sz="1540">
              <a:latin typeface="Times New Roman" panose="02020603050405020304" charset="0"/>
              <a:cs typeface="Times New Roman" panose="02020603050405020304" charset="0"/>
            </a:endParaRPr>
          </a:p>
          <a:p>
            <a:pPr lvl="1"/>
            <a:r>
              <a:rPr lang="en-US" altLang="en-US" sz="1540">
                <a:latin typeface="Times New Roman" panose="02020603050405020304" charset="0"/>
                <a:cs typeface="Times New Roman" panose="02020603050405020304" charset="0"/>
                <a:sym typeface="+mn-ea"/>
              </a:rPr>
              <a:t>No hashing overhead</a:t>
            </a:r>
            <a:endParaRPr lang="en-US" altLang="en-US" sz="1540">
              <a:latin typeface="Times New Roman" panose="02020603050405020304" charset="0"/>
              <a:cs typeface="Times New Roman" panose="02020603050405020304" charset="0"/>
            </a:endParaRPr>
          </a:p>
          <a:p>
            <a:pPr lvl="1"/>
            <a:r>
              <a:rPr lang="en-US" altLang="en-US" sz="1540">
                <a:latin typeface="Times New Roman" panose="02020603050405020304" charset="0"/>
                <a:cs typeface="Times New Roman" panose="02020603050405020304" charset="0"/>
                <a:sym typeface="+mn-ea"/>
              </a:rPr>
              <a:t>No redundant scans</a:t>
            </a:r>
            <a:endParaRPr lang="en-US" altLang="en-US" sz="1540">
              <a:latin typeface="Times New Roman" panose="02020603050405020304" charset="0"/>
              <a:cs typeface="Times New Roman" panose="02020603050405020304" charset="0"/>
            </a:endParaRPr>
          </a:p>
          <a:p>
            <a:pPr marL="457200" lvl="1" indent="0">
              <a:buNone/>
            </a:pPr>
            <a:endParaRPr lang="en-US" altLang="en-US" sz="154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99770" y="365125"/>
            <a:ext cx="10515600" cy="4351338"/>
          </a:xfrm>
        </p:spPr>
        <p:txBody>
          <a:bodyPr>
            <a:noAutofit/>
          </a:bodyPr>
          <a:p>
            <a:pPr>
              <a:buFont typeface="Wingdings" panose="05000000000000000000" charset="0"/>
              <a:buChar char="v"/>
            </a:pPr>
            <a:r>
              <a:rPr lang="en-US" altLang="en-US" sz="1700">
                <a:latin typeface="Times New Roman" panose="02020603050405020304" charset="0"/>
                <a:cs typeface="Times New Roman" panose="02020603050405020304" charset="0"/>
                <a:sym typeface="+mn-ea"/>
              </a:rPr>
              <a:t>Parallelism is applied between validation tasks, not within them:</a:t>
            </a:r>
            <a:endParaRPr lang="en-US" altLang="en-US" sz="1700">
              <a:latin typeface="Times New Roman" panose="02020603050405020304" charset="0"/>
              <a:cs typeface="Times New Roman" panose="02020603050405020304" charset="0"/>
            </a:endParaRPr>
          </a:p>
          <a:p>
            <a:pPr lvl="1"/>
            <a:r>
              <a:rPr lang="en-US" altLang="en-US" sz="1455">
                <a:latin typeface="Times New Roman" panose="02020603050405020304" charset="0"/>
                <a:cs typeface="Times New Roman" panose="02020603050405020304" charset="0"/>
                <a:sym typeface="+mn-ea"/>
              </a:rPr>
              <a:t>Each worker validates independent attribute pairs</a:t>
            </a:r>
            <a:endParaRPr lang="en-US" altLang="en-US" sz="1455">
              <a:latin typeface="Times New Roman" panose="02020603050405020304" charset="0"/>
              <a:cs typeface="Times New Roman" panose="02020603050405020304" charset="0"/>
            </a:endParaRPr>
          </a:p>
          <a:p>
            <a:pPr lvl="1"/>
            <a:r>
              <a:rPr lang="en-US" altLang="en-US" sz="1455">
                <a:latin typeface="Times New Roman" panose="02020603050405020304" charset="0"/>
                <a:cs typeface="Times New Roman" panose="02020603050405020304" charset="0"/>
                <a:sym typeface="+mn-ea"/>
              </a:rPr>
              <a:t>No shared mutable state</a:t>
            </a:r>
            <a:endParaRPr lang="en-US" altLang="en-US" sz="1455">
              <a:latin typeface="Times New Roman" panose="02020603050405020304" charset="0"/>
              <a:cs typeface="Times New Roman" panose="02020603050405020304" charset="0"/>
            </a:endParaRPr>
          </a:p>
          <a:p>
            <a:pPr lvl="1"/>
            <a:r>
              <a:rPr lang="en-US" altLang="en-US" sz="1455">
                <a:latin typeface="Times New Roman" panose="02020603050405020304" charset="0"/>
                <a:cs typeface="Times New Roman" panose="02020603050405020304" charset="0"/>
                <a:sym typeface="+mn-ea"/>
              </a:rPr>
              <a:t>No synchronization required</a:t>
            </a:r>
            <a:endParaRPr lang="en-US" altLang="en-US" sz="1455">
              <a:latin typeface="Times New Roman" panose="02020603050405020304" charset="0"/>
              <a:cs typeface="Times New Roman" panose="02020603050405020304" charset="0"/>
            </a:endParaRPr>
          </a:p>
          <a:p>
            <a:pPr marL="457200" lvl="1" indent="0">
              <a:buNone/>
            </a:pPr>
            <a:endParaRPr lang="en-US" altLang="en-US" sz="1455">
              <a:latin typeface="Times New Roman" panose="02020603050405020304" charset="0"/>
              <a:cs typeface="Times New Roman" panose="02020603050405020304" charset="0"/>
            </a:endParaRPr>
          </a:p>
          <a:p>
            <a:pPr marL="457200" lvl="1" indent="0">
              <a:buNone/>
            </a:pPr>
            <a:r>
              <a:rPr lang="en-US" altLang="en-US" sz="1455">
                <a:latin typeface="Times New Roman" panose="02020603050405020304" charset="0"/>
                <a:cs typeface="Times New Roman" panose="02020603050405020304" charset="0"/>
                <a:sym typeface="+mn-ea"/>
              </a:rPr>
              <a:t>This makes the system naturally thread-safe, scalable, and easy to reason about.</a:t>
            </a:r>
            <a:endParaRPr lang="en-US" altLang="en-US" sz="1455">
              <a:latin typeface="Times New Roman" panose="02020603050405020304" charset="0"/>
              <a:cs typeface="Times New Roman" panose="02020603050405020304" charset="0"/>
            </a:endParaRPr>
          </a:p>
          <a:p>
            <a:pPr marL="0" indent="0">
              <a:buNone/>
            </a:pPr>
            <a:endParaRPr lang="en-US" altLang="en-US" sz="1700">
              <a:latin typeface="Times New Roman" panose="02020603050405020304" charset="0"/>
              <a:cs typeface="Times New Roman" panose="02020603050405020304" charset="0"/>
            </a:endParaRPr>
          </a:p>
          <a:p>
            <a:pPr>
              <a:buFont typeface="Wingdings" panose="05000000000000000000" charset="0"/>
              <a:buChar char="v"/>
            </a:pPr>
            <a:r>
              <a:rPr lang="en-US" altLang="en-US" sz="1700">
                <a:latin typeface="Times New Roman" panose="02020603050405020304" charset="0"/>
                <a:cs typeface="Times New Roman" panose="02020603050405020304" charset="0"/>
              </a:rPr>
              <a:t>Memory Safety, Messaging &amp; Clean Shutdown</a:t>
            </a:r>
            <a:endParaRPr lang="en-US" altLang="en-US" sz="1700">
              <a:latin typeface="Times New Roman" panose="02020603050405020304" charset="0"/>
              <a:cs typeface="Times New Roman" panose="02020603050405020304" charset="0"/>
            </a:endParaRPr>
          </a:p>
          <a:p>
            <a:pPr marL="0" indent="0">
              <a:buNone/>
            </a:pPr>
            <a:endParaRPr lang="en-US" altLang="en-US" sz="1700">
              <a:latin typeface="Times New Roman" panose="02020603050405020304" charset="0"/>
              <a:cs typeface="Times New Roman" panose="02020603050405020304" charset="0"/>
            </a:endParaRPr>
          </a:p>
          <a:p>
            <a:pPr marL="457200" lvl="1" indent="0">
              <a:buNone/>
            </a:pPr>
            <a:r>
              <a:rPr lang="en-US" altLang="en-US" sz="1455">
                <a:latin typeface="Times New Roman" panose="02020603050405020304" charset="0"/>
                <a:cs typeface="Times New Roman" panose="02020603050405020304" charset="0"/>
              </a:rPr>
              <a:t>The entire system operates in memory only, without disk usage. Memory consumption is carefully controlled:</a:t>
            </a:r>
            <a:endParaRPr lang="en-US" altLang="en-US" sz="1455">
              <a:latin typeface="Times New Roman" panose="02020603050405020304" charset="0"/>
              <a:cs typeface="Times New Roman" panose="02020603050405020304" charset="0"/>
            </a:endParaRPr>
          </a:p>
          <a:p>
            <a:pPr marL="457200" lvl="1" indent="0">
              <a:buNone/>
            </a:pPr>
            <a:endParaRPr lang="en-US" altLang="en-US" sz="1455">
              <a:latin typeface="Times New Roman" panose="02020603050405020304" charset="0"/>
              <a:cs typeface="Times New Roman" panose="02020603050405020304" charset="0"/>
            </a:endParaRPr>
          </a:p>
          <a:p>
            <a:pPr marL="457200" lvl="1" indent="0">
              <a:buNone/>
            </a:pPr>
            <a:r>
              <a:rPr lang="en-US" altLang="en-US" sz="1455">
                <a:latin typeface="Times New Roman" panose="02020603050405020304" charset="0"/>
                <a:cs typeface="Times New Roman" panose="02020603050405020304" charset="0"/>
              </a:rPr>
              <a:t>Workers perform short-lived computations</a:t>
            </a:r>
            <a:endParaRPr lang="en-US" altLang="en-US" sz="1455">
              <a:latin typeface="Times New Roman" panose="02020603050405020304" charset="0"/>
              <a:cs typeface="Times New Roman" panose="02020603050405020304" charset="0"/>
            </a:endParaRPr>
          </a:p>
          <a:p>
            <a:pPr marL="457200" lvl="1" indent="0">
              <a:buNone/>
            </a:pPr>
            <a:endParaRPr lang="en-US" altLang="en-US" sz="1455">
              <a:latin typeface="Times New Roman" panose="02020603050405020304" charset="0"/>
              <a:cs typeface="Times New Roman" panose="02020603050405020304" charset="0"/>
            </a:endParaRPr>
          </a:p>
          <a:p>
            <a:pPr marL="457200" lvl="1" indent="0">
              <a:buNone/>
            </a:pPr>
            <a:r>
              <a:rPr lang="en-US" altLang="en-US" sz="1455">
                <a:latin typeface="Times New Roman" panose="02020603050405020304" charset="0"/>
                <a:cs typeface="Times New Roman" panose="02020603050405020304" charset="0"/>
              </a:rPr>
              <a:t>Large temporary objects are avoided</a:t>
            </a:r>
            <a:endParaRPr lang="en-US" altLang="en-US" sz="1455">
              <a:latin typeface="Times New Roman" panose="02020603050405020304" charset="0"/>
              <a:cs typeface="Times New Roman" panose="02020603050405020304" charset="0"/>
            </a:endParaRPr>
          </a:p>
          <a:p>
            <a:pPr marL="457200" lvl="1" indent="0">
              <a:buNone/>
            </a:pPr>
            <a:endParaRPr lang="en-US" altLang="en-US" sz="1455">
              <a:latin typeface="Times New Roman" panose="02020603050405020304" charset="0"/>
              <a:cs typeface="Times New Roman" panose="02020603050405020304" charset="0"/>
            </a:endParaRPr>
          </a:p>
          <a:p>
            <a:pPr marL="457200" lvl="1" indent="0">
              <a:buNone/>
            </a:pPr>
            <a:r>
              <a:rPr lang="en-US" altLang="en-US" sz="1455">
                <a:latin typeface="Times New Roman" panose="02020603050405020304" charset="0"/>
                <a:cs typeface="Times New Roman" panose="02020603050405020304" charset="0"/>
              </a:rPr>
              <a:t>Heap pressure and GC overhead remain low</a:t>
            </a:r>
            <a:endParaRPr lang="en-US" altLang="en-US" sz="1455">
              <a:latin typeface="Times New Roman" panose="02020603050405020304" charset="0"/>
              <a:cs typeface="Times New Roman" panose="02020603050405020304" charset="0"/>
            </a:endParaRPr>
          </a:p>
          <a:p>
            <a:pPr marL="457200" lvl="1" indent="0">
              <a:buNone/>
            </a:pPr>
            <a:endParaRPr lang="en-US" altLang="en-US" sz="1455">
              <a:latin typeface="Times New Roman" panose="02020603050405020304" charset="0"/>
              <a:cs typeface="Times New Roman" panose="02020603050405020304" charset="0"/>
            </a:endParaRPr>
          </a:p>
          <a:p>
            <a:pPr marL="457200" lvl="1" indent="0">
              <a:buNone/>
            </a:pPr>
            <a:r>
              <a:rPr lang="en-US" altLang="en-US" sz="1455">
                <a:latin typeface="Times New Roman" panose="02020603050405020304" charset="0"/>
                <a:cs typeface="Times New Roman" panose="02020603050405020304" charset="0"/>
              </a:rPr>
              <a:t>Large column data is transmitted safely using a LargeMessageProxy, ensuring compliance with Akka’s message size limits while maintaining reliability and transparency.</a:t>
            </a:r>
            <a:endParaRPr lang="en-US" altLang="en-US" sz="1455">
              <a:latin typeface="Times New Roman" panose="02020603050405020304" charset="0"/>
              <a:cs typeface="Times New Roman" panose="02020603050405020304" charset="0"/>
            </a:endParaRPr>
          </a:p>
          <a:p>
            <a:pPr marL="457200" lvl="1" indent="0">
              <a:buNone/>
            </a:pPr>
            <a:endParaRPr lang="en-US" altLang="en-US" sz="17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a:buFont typeface="Wingdings" panose="05000000000000000000" charset="0"/>
              <a:buChar char="v"/>
            </a:pPr>
            <a:r>
              <a:rPr lang="en-US" altLang="en-US" sz="1800">
                <a:latin typeface="Times New Roman" panose="02020603050405020304" charset="0"/>
                <a:cs typeface="Times New Roman" panose="02020603050405020304" charset="0"/>
              </a:rPr>
              <a:t>Actor lifecycles are managed explicitly:</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pPr lvl="1"/>
            <a:r>
              <a:rPr lang="en-US" altLang="en-US" sz="1540">
                <a:latin typeface="Times New Roman" panose="02020603050405020304" charset="0"/>
                <a:cs typeface="Times New Roman" panose="02020603050405020304" charset="0"/>
              </a:rPr>
              <a:t>All relevant actors are registered with a Reaper</a:t>
            </a:r>
            <a:endParaRPr lang="en-US" altLang="en-US" sz="1540">
              <a:latin typeface="Times New Roman" panose="02020603050405020304" charset="0"/>
              <a:cs typeface="Times New Roman" panose="02020603050405020304" charset="0"/>
            </a:endParaRPr>
          </a:p>
          <a:p>
            <a:pPr lvl="1"/>
            <a:endParaRPr lang="en-US" altLang="en-US" sz="1540">
              <a:latin typeface="Times New Roman" panose="02020603050405020304" charset="0"/>
              <a:cs typeface="Times New Roman" panose="02020603050405020304" charset="0"/>
            </a:endParaRPr>
          </a:p>
          <a:p>
            <a:pPr lvl="1"/>
            <a:r>
              <a:rPr lang="en-US" altLang="en-US" sz="1540">
                <a:latin typeface="Times New Roman" panose="02020603050405020304" charset="0"/>
                <a:cs typeface="Times New Roman" panose="02020603050405020304" charset="0"/>
              </a:rPr>
              <a:t>Shutdown propagates cleanly across all ActorSystems</a:t>
            </a:r>
            <a:endParaRPr lang="en-US" altLang="en-US" sz="1540">
              <a:latin typeface="Times New Roman" panose="02020603050405020304" charset="0"/>
              <a:cs typeface="Times New Roman" panose="02020603050405020304" charset="0"/>
            </a:endParaRPr>
          </a:p>
          <a:p>
            <a:pPr lvl="1"/>
            <a:endParaRPr lang="en-US" altLang="en-US" sz="1540">
              <a:latin typeface="Times New Roman" panose="02020603050405020304" charset="0"/>
              <a:cs typeface="Times New Roman" panose="02020603050405020304" charset="0"/>
            </a:endParaRPr>
          </a:p>
          <a:p>
            <a:pPr lvl="1"/>
            <a:r>
              <a:rPr lang="en-US" altLang="en-US" sz="1540">
                <a:latin typeface="Times New Roman" panose="02020603050405020304" charset="0"/>
                <a:cs typeface="Times New Roman" panose="02020603050405020304" charset="0"/>
              </a:rPr>
              <a:t>The system terminates only after all results are produced</a:t>
            </a:r>
            <a:endParaRPr lang="en-US" altLang="en-US" sz="154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Overall, the implementation is modular, robust, and extensible, providing a clean foundation for future extensions such as repartitioning or higher-arity IND discovery while maintaining strong correctness guarantees.</a:t>
            </a:r>
            <a:endParaRPr lang="en-US" altLang="en-US" sz="18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2106</Words>
  <Application>WPS Presentation</Application>
  <PresentationFormat>Widescreen</PresentationFormat>
  <Paragraphs>50</Paragraphs>
  <Slides>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vt:i4>
      </vt:variant>
    </vt:vector>
  </HeadingPairs>
  <TitlesOfParts>
    <vt:vector size="16" baseType="lpstr">
      <vt:lpstr>Arial</vt:lpstr>
      <vt:lpstr>SimSun</vt:lpstr>
      <vt:lpstr>Wingdings</vt:lpstr>
      <vt:lpstr>Calibri Light</vt:lpstr>
      <vt:lpstr>Calibri</vt:lpstr>
      <vt:lpstr>Microsoft YaHei</vt:lpstr>
      <vt:lpstr>Arial Unicode MS</vt:lpstr>
      <vt:lpstr>Aldhabi</vt:lpstr>
      <vt:lpstr>Bahnschrift Light</vt:lpstr>
      <vt:lpstr>Times New Roman</vt:lpstr>
      <vt:lpstr>Wingdings</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Sandra Asbah</cp:lastModifiedBy>
  <cp:revision>3</cp:revision>
  <dcterms:created xsi:type="dcterms:W3CDTF">2025-07-23T00:59:00Z</dcterms:created>
  <dcterms:modified xsi:type="dcterms:W3CDTF">2026-01-10T22:41:34Z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60873C946CDB4777955E895784C5E927_11</vt:lpwstr>
  </property>
  <property fmtid="{D5CDD505-2E9C-101B-9397-08002B2CF9AE}" pid="3" name="KSOProductBuildVer">
    <vt:lpwstr>1033-12.2.0.23196</vt:lpwstr>
  </property>
</Properties>
</file>